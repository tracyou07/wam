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361310daa742d8" /><Relationship Type="http://schemas.openxmlformats.org/officeDocument/2006/relationships/extended-properties" Target="/docProps/app.xml" Id="R51f4fff86f704989" /><Relationship Type="http://schemas.openxmlformats.org/officeDocument/2006/relationships/officeDocument" Target="/ppt/presentation.xml" Id="R59b75cee89c4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0ceceab2054497"/>
  </p:sldMasterIdLst>
  <p:notesMasterIdLst>
    <p:notesMasterId xmlns:r="http://schemas.openxmlformats.org/officeDocument/2006/relationships" r:id="R3ffc55ace8d94312"/>
  </p:notesMasterIdLst>
  <p:sldIdLst>
    <p:sldId xmlns:r="http://schemas.openxmlformats.org/officeDocument/2006/relationships" id="256" r:id="R4a35800b38cf4086"/>
    <p:sldId xmlns:r="http://schemas.openxmlformats.org/officeDocument/2006/relationships" id="257" r:id="Rb2ef66e9bf1148f1"/>
    <p:sldId xmlns:r="http://schemas.openxmlformats.org/officeDocument/2006/relationships" id="258" r:id="R90b6ebcad57a4734"/>
    <p:sldId xmlns:r="http://schemas.openxmlformats.org/officeDocument/2006/relationships" id="259" r:id="R28cc293098f646b5"/>
    <p:sldId xmlns:r="http://schemas.openxmlformats.org/officeDocument/2006/relationships" id="260" r:id="Rc0b973548f054436"/>
    <p:sldId xmlns:r="http://schemas.openxmlformats.org/officeDocument/2006/relationships" id="261" r:id="Rf6529b3d84ba431b"/>
    <p:sldId xmlns:r="http://schemas.openxmlformats.org/officeDocument/2006/relationships" id="262" r:id="Rc86c155baa3a4ce9"/>
    <p:sldId xmlns:r="http://schemas.openxmlformats.org/officeDocument/2006/relationships" id="263" r:id="R52f9fd805daf44c8"/>
    <p:sldId xmlns:r="http://schemas.openxmlformats.org/officeDocument/2006/relationships" id="264" r:id="R789a1264cbd947cf"/>
    <p:sldId xmlns:r="http://schemas.openxmlformats.org/officeDocument/2006/relationships" id="265" r:id="R195a6506195d46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c9e2cc24ae48f5" /><Relationship Type="http://schemas.openxmlformats.org/officeDocument/2006/relationships/slideMaster" Target="/ppt/slideMasters/slideMaster1.xml" Id="R980ceceab2054497" /><Relationship Type="http://schemas.openxmlformats.org/officeDocument/2006/relationships/notesMaster" Target="/ppt/notesMasters/notesMaster1.xml" Id="R3ffc55ace8d94312" /><Relationship Type="http://schemas.openxmlformats.org/officeDocument/2006/relationships/presProps" Target="/ppt/presProps.xml" Id="R2ba4e88e44184f33" /><Relationship Type="http://schemas.openxmlformats.org/officeDocument/2006/relationships/viewProps" Target="/ppt/viewProps.xml" Id="R8c6eb72be3ea4667" /><Relationship Type="http://schemas.openxmlformats.org/officeDocument/2006/relationships/tableStyles" Target="/ppt/tableStyles.xml" Id="R70286c52e8ac4946" /><Relationship Type="http://schemas.openxmlformats.org/officeDocument/2006/relationships/slide" Target="/ppt/slides/slide1.xml" Id="R4a35800b38cf4086" /><Relationship Type="http://schemas.openxmlformats.org/officeDocument/2006/relationships/slide" Target="/ppt/slides/slide2.xml" Id="Rb2ef66e9bf1148f1" /><Relationship Type="http://schemas.openxmlformats.org/officeDocument/2006/relationships/slide" Target="/ppt/slides/slide3.xml" Id="R90b6ebcad57a4734" /><Relationship Type="http://schemas.openxmlformats.org/officeDocument/2006/relationships/slide" Target="/ppt/slides/slide4.xml" Id="R28cc293098f646b5" /><Relationship Type="http://schemas.openxmlformats.org/officeDocument/2006/relationships/slide" Target="/ppt/slides/slide5.xml" Id="Rc0b973548f054436" /><Relationship Type="http://schemas.openxmlformats.org/officeDocument/2006/relationships/slide" Target="/ppt/slides/slide6.xml" Id="Rf6529b3d84ba431b" /><Relationship Type="http://schemas.openxmlformats.org/officeDocument/2006/relationships/slide" Target="/ppt/slides/slide7.xml" Id="Rc86c155baa3a4ce9" /><Relationship Type="http://schemas.openxmlformats.org/officeDocument/2006/relationships/slide" Target="/ppt/slides/slide8.xml" Id="R52f9fd805daf44c8" /><Relationship Type="http://schemas.openxmlformats.org/officeDocument/2006/relationships/slide" Target="/ppt/slides/slide9.xml" Id="R789a1264cbd947cf" /><Relationship Type="http://schemas.openxmlformats.org/officeDocument/2006/relationships/slide" Target="/ppt/slides/slide10.xml" Id="R195a6506195d46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77ce54adcf4d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b38c5253304571" /><Relationship Type="http://schemas.openxmlformats.org/officeDocument/2006/relationships/notesMaster" Target="/ppt/notesMasters/notesMaster1.xml" Id="R1794f46f4abc41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eacfc8fe054a0d" /><Relationship Type="http://schemas.openxmlformats.org/officeDocument/2006/relationships/notesMaster" Target="/ppt/notesMasters/notesMaster1.xml" Id="Re408025007b042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1708d7d21b4559" /><Relationship Type="http://schemas.openxmlformats.org/officeDocument/2006/relationships/notesMaster" Target="/ppt/notesMasters/notesMaster1.xml" Id="R77ae37e4d8844d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3fdede7eb24368" /><Relationship Type="http://schemas.openxmlformats.org/officeDocument/2006/relationships/notesMaster" Target="/ppt/notesMasters/notesMaster1.xml" Id="R6fa24f7a7b2f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9052bc44534029" /><Relationship Type="http://schemas.openxmlformats.org/officeDocument/2006/relationships/notesMaster" Target="/ppt/notesMasters/notesMaster1.xml" Id="R8c93cf902b134a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e86bbccf914f4a" /><Relationship Type="http://schemas.openxmlformats.org/officeDocument/2006/relationships/notesMaster" Target="/ppt/notesMasters/notesMaster1.xml" Id="R723202687a30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1404020e6d40fa" /><Relationship Type="http://schemas.openxmlformats.org/officeDocument/2006/relationships/notesMaster" Target="/ppt/notesMasters/notesMaster1.xml" Id="R7f796e7f77e544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3ccf18b8d24e9e" /><Relationship Type="http://schemas.openxmlformats.org/officeDocument/2006/relationships/notesMaster" Target="/ppt/notesMasters/notesMaster1.xml" Id="Ra50da2f5f03e4e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80d7c842de4e44" /><Relationship Type="http://schemas.openxmlformats.org/officeDocument/2006/relationships/notesMaster" Target="/ppt/notesMasters/notesMaster1.xml" Id="R4c4898f44ffb42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298bb9c5854833" /><Relationship Type="http://schemas.openxmlformats.org/officeDocument/2006/relationships/notesMaster" Target="/ppt/notesMasters/notesMaster1.xml" Id="R2defe1a35f2f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3ac95208e94d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c89cbe6684009" /><Relationship Type="http://schemas.openxmlformats.org/officeDocument/2006/relationships/slideLayout" Target="/ppt/slideLayouts/slideLayout1.xml" Id="R9a00ad5d395b41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00ad5d395b41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8d549987544f1" /><Relationship Type="http://schemas.openxmlformats.org/officeDocument/2006/relationships/notesSlide" Target="/ppt/notesSlides/notesSlide1.xml" Id="R6bccd84e49ba4e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a4cc350c84351" /><Relationship Type="http://schemas.openxmlformats.org/officeDocument/2006/relationships/notesSlide" Target="/ppt/notesSlides/notesSlide2.xml" Id="Ra03a6e33e5fb48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db3d714f4417a" /><Relationship Type="http://schemas.openxmlformats.org/officeDocument/2006/relationships/notesSlide" Target="/ppt/notesSlides/notesSlide3.xml" Id="Rd78e0d258ac74e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cc0a0e5c94089" /><Relationship Type="http://schemas.openxmlformats.org/officeDocument/2006/relationships/notesSlide" Target="/ppt/notesSlides/notesSlide4.xml" Id="R0219b7c1b83c4e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43cd8787f43e3" /><Relationship Type="http://schemas.openxmlformats.org/officeDocument/2006/relationships/notesSlide" Target="/ppt/notesSlides/notesSlide5.xml" Id="R41fc1a3dc6be46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bfee96645435b" /><Relationship Type="http://schemas.openxmlformats.org/officeDocument/2006/relationships/notesSlide" Target="/ppt/notesSlides/notesSlide6.xml" Id="Ra9b9e0f7db0d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a433e84a2482d" /><Relationship Type="http://schemas.openxmlformats.org/officeDocument/2006/relationships/notesSlide" Target="/ppt/notesSlides/notesSlide7.xml" Id="Rea6f0747612143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b17f25d3c4e3c" /><Relationship Type="http://schemas.openxmlformats.org/officeDocument/2006/relationships/notesSlide" Target="/ppt/notesSlides/notesSlide8.xml" Id="R169ee8b335e34d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4adf91b6c49eb" /><Relationship Type="http://schemas.openxmlformats.org/officeDocument/2006/relationships/notesSlide" Target="/ppt/notesSlides/notesSlide9.xml" Id="R37ba387d04cb41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91c741f2540e8" /><Relationship Type="http://schemas.openxmlformats.org/officeDocument/2006/relationships/notesSlide" Target="/ppt/notesSlides/notesSlide10.xml" Id="Rf7b0e081091641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201D43-5E07-4298-8819-7B1DCA08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A9527-7989-4389-A102-03B1E883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095BB-C327-4B98-BC93-8C60A608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EMBODIED AI / WORLD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6B870-5051-4A14-B6FD-4F31F360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953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World Action Models：从世界建模到动作生成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3F057-22B4-46FB-ACC4-C287431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核心论点：WAM 不是视频生成模型的简单下游应用，而是把未来世界、动作序列与任务价值统一进控制问题的建模范式。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81B2B-C167-4D5C-8BCE-4B1AE782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6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World Model</a:t>
            </a:r>
          </a:p>
          <a:p xmlns:a="http://schemas.openxmlformats.org/drawingml/2006/main">
            <a:r>
              <a:rPr sz="150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model the world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B9744-F717-4CDD-979B-B1C61C8E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6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Policy / VLA</a:t>
            </a:r>
          </a:p>
          <a:p xmlns:a="http://schemas.openxmlformats.org/drawingml/2006/main">
            <a:r>
              <a:rPr sz="150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choose an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76E1B-97D6-4F6C-A61E-4F478B6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WAM</a:t>
            </a:r>
          </a:p>
          <a:p xmlns:a="http://schemas.openxmlformats.org/drawingml/2006/main"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 the world for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E81D7-8ECA-4D05-AFA8-3E554D39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76300"/>
            <a:ext cx="571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0D610-FF36-4F12-9668-65823A46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60F2C3-F22E-466A-A9BF-2AA6BEF4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98E78-7AFB-454D-8E91-5BCC4040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97425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3E2630-2E1C-4F9A-A8AA-A75B9C8B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440D8-3905-4BD1-AF1B-95C8A4A2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AE889-728D-4D47-ADA5-59676F43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PROBLEM FORMULATION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8FA62-EA80-488E-96A7-83CD2D0B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只学 observation → action 会丢掉动作后果这一层结构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DC47E-9628-4B3B-83CC-850FF80E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90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rPr>
              <a:t>具身智能中的动作是干预变量：它不仅由当前观测决定，也会改变未来观测分布。WAM 关注的正是这种“动作—未来”耦合。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4F35A-E8B9-4542-B413-3EDBACF7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6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hidden state</a:t>
            </a:r>
          </a:p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s_t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3983D-5BA0-4CE6-8908-3A8BB91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o_t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A47B6-F848-4534-AEBA-EBDEC3DD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a_t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8D3CC-569F-495F-B4E3-813E6688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337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future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o_{t+1:t+H}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9BBC4-C443-4A2E-BA2C-1BCE4D25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48075"/>
            <a:ext cx="723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D5C76-3329-4D82-A21D-4AA6A056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48075"/>
            <a:ext cx="723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D6899-15B3-451D-855F-F5E4A7AD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48075"/>
            <a:ext cx="723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3EF81-6FD6-4D16-8406-CA295704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Policy 只覆盖中间映射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4E81A-B15A-47CA-96A8-3F2016D9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19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WAM 关注动作对未来世界的约束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DF4A7-5D67-48B5-BD85-E4C97D9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E38A4-8529-4BEB-814E-8FB75B45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4DB69-ED4A-42B6-B43F-B3931DCB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911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F60EE-558A-4A7E-873A-C8BE9189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20DC1-F387-4233-A5DE-3F6A2AF9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4D0A5-41DD-4D50-A2E3-082D30B7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CONCEPTUAL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93DE2-DDD8-4092-BE94-631AA17C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World Model 与 WAM 的区别，核心在于 action 的角色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B28EE-C9E3-477A-B74E-62704134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03A33-C50C-4F95-99B4-6E72530F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383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1070E-E109-4429-A70C-18F467E9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383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7C2CF-C9BD-4A30-BEAD-B9E5FB2C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典型用途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44AB7-DD43-4BEF-BA94-60A39789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World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B9FA7-3EA2-49FB-91A1-DFAA5EB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527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给定动作后，世界如何演化？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E392E-25EA-4B86-A87B-059677C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527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条件变量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4E27C-BA79-486F-ABAD-2A0F725B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预测、仿真、rollout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E60DC-C11F-43AA-AFE8-1E2842AA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Policy / VLA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F763E-EA6A-47B4-8E8F-65E9EDEB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528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当前观测下，应该执行什么？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66AEE-1954-4A36-AE53-23BD3212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输出变量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C9E5F-FBB1-4AF4-802D-9B2E0D18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直接控制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44C4E-4AEE-45E9-942D-DCC55CC2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WAM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5F22B-0C02-4EDB-B8B5-0EE091C2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动作与未来世界如何联合产生？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8F6E1-2710-4757-831D-E0F959D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529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建模对象 + 控制变量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4CBC3-FB00-44BD-B88E-D11A0C67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529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控制、规划、表征学习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45257-1F30-468B-8F18-5A75BD40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结论：WAM 不是替代 World Model，而是将 world modeling 放进 action generation / planning 的目标函数中。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B2B20-670B-4FFD-94A4-6065E2A2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3DE68-FC40-4B5B-853B-92044A8E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884FC-B0C9-4510-8A5C-75E772DC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394480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528BE8-883C-46DF-8D7E-B1DECB50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7E0FD-31D1-4FE3-86D8-2B4534E8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2BBAD-8210-42CD-BA88-648DD2D4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MODEL-BASED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FCA56-434A-4616-93CF-32B492AE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Planning 将 learned model 转化为动作选择程序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F74E5-9552-4903-BD4C-2D648C20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rPr>
              <a:t>Synthetic rollout 是模型内部生成的虚拟未来；planning 则在这些虚拟未来上比较候选动作，并执行最高价值候选的第一个动作或 action chunk。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E55BD-8D45-44CC-8FB6-F0969939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Current</a:t>
            </a:r>
          </a:p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F131F-3FB8-4C17-94C1-92BDABBE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Candidate</a:t>
            </a:r>
          </a:p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05120-7334-4F37-AC03-40A11607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Synthetic</a:t>
            </a:r>
          </a:p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rollouts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34CA3-FF73-40E6-9E7F-3CCB5C96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Value / reward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2C0C3C-BCD3-4637-99DC-6DFC431E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14725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0E615-10F7-4FCD-A1EF-99502956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14725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66BA6-119D-4998-A874-D71AC736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14725"/>
            <a:ext cx="6286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89DD0-739A-4B27-965C-11A3863C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Bellman intuition: 当前收益 + 后继状态的未来价值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AD09E-CA49-421D-9488-AF9E8B85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72A6D-7CDF-4392-9628-0D1B3C6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2FF9D-BBBA-416B-87DA-5D503056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16111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A4EEE8-C87C-4D83-BA76-44D3F4C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3A5CA-F091-4970-BDA3-C6A62C31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80F98-FEDB-4817-A075-A246F538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PARADIGM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3A257-0852-4B19-A32D-6397778E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三种 WAM 范式的分歧：future prediction 用在训练还是推理？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240C2-688C-44B1-9B0F-D49FFE76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Joint Video-Action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E5F34-3273-4BA6-9555-B1044F9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动作与未来视频在同一个生成过程中联合去噪。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22E73-C900-4455-898E-637BD7C6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训练：联合预测</a:t>
            </a:r>
          </a:p>
          <a:p xmlns:a="http://schemas.openxmlformats.org/drawingml/2006/main"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推理：显式生成未来 + 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8E608-0FA2-4C25-9304-B704576C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Imagine-Then-Execute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33881-09F7-4E73-9AF0-5DFD13C7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先想象目标未来，再由 inverse dynamics / action decoder 反推动作。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DBE66-FD31-487F-B8C9-1C1F4683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672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训练：分阶段</a:t>
            </a:r>
          </a:p>
          <a:p xmlns:a="http://schemas.openxmlformats.org/drawingml/2006/main"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推理：先未来，后动作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5A266C-4297-48E4-AD5A-C01B0CD6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Fast-WAM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5B426-2991-4DEC-A6A6-74E995C4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143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训练时保留视频预测，推理时只用 latent world representation 直接出动作。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42B8B-3A04-4C26-8E04-2ABC76FC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672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训练：视频辅助监督</a:t>
            </a:r>
          </a:p>
          <a:p xmlns:a="http://schemas.openxmlformats.org/drawingml/2006/main"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推理：跳过未来生成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E7DF4-8694-4E3D-AA78-412C0E4D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97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判别轴：显式 imagination 是否仍是 test-time action selection 的必要步骤。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C642F-128B-41BF-83B2-140A1E46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779C7-5E83-4BBF-9BD5-3F0D7CA9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18FB6-9276-474C-85FE-45EA36BC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22065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D3E3D0-AA88-4FB9-B69A-E7A3CA61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6FC8F-F3BA-4C65-BA28-3060929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9BA22-F81E-4EA8-995E-32333D38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JOINT MODELING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01F63-D53A-4045-AADC-2B9D46B5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14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Joint Video-Action 让动作和未来画面互相约束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EAB82-F25B-41E2-91A2-4F13A2B0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52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rPr>
              <a:t>训练样本不是单独的图像或动作，而是未来视觉 latent 与动作 token 的联合对象。扩散模型学习在条件观测和语言下恢复这个联合样本。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F54D3-04BD-4D30-9144-A1E86D41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future visual</a:t>
            </a:r>
          </a:p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latent 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2A178-51C1-4187-BE46-BC2BE2F1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E2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future action</a:t>
            </a:r>
          </a:p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tokens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57B66-986A-442D-B904-855FCEF0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joint clean sample</a:t>
            </a:r>
          </a:p>
          <a:p xmlns:a="http://schemas.openxmlformats.org/drawingml/2006/main">
            <a:r>
              <a:rPr sz="13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x₀ = [zᵒ, zᵃ]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69649-71B0-4B2A-B51E-D0CC8A95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conditional denoising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εθ(xτ, τ, c)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53954-AF06-4FB6-BC70-084BE934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9092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02331-8681-479F-970F-02C307E5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0532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8B925-A238-4104-BF9E-693F2D27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A60DA-1BB1-41DA-8063-C3D63E4C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优点：多模态动作分布；动作与未来一致。 代价：推理时 denoising 高维未来，延迟较高。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5C72D-5A79-4594-B088-AE9B85A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A2826-676A-48C3-AC74-7933DCDC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16D53-F442-4C50-95DB-8212FC4D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54117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8DAC0-8D00-46C6-BE6A-0CF1B1E3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0859B-8839-4B86-A3FF-91382FCA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2594F-4CCD-43DC-BFE6-730659FA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IMAGINE THEN EXECUTE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C40B8-61A2-4966-9284-EE27EDFB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先想象未来再执行，清晰但引入一致性瓶颈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20669-BD6F-4B7D-BA9D-E88DEE4F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rPr>
              <a:t>这一范式把问题拆成 future model 与 action model：前者生成目标未来，后者学习如何从当前状态到达该未来。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AB1E5-1F1B-4718-BEE4-ECDC5FC1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past observation</a:t>
            </a:r>
          </a:p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+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C7290-7BBF-43FA-B793-E0F6F42A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imagined future</a:t>
            </a:r>
          </a:p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8C64D-4D75-4CEE-B5AA-0C2D901E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2247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inverse dynamics</a:t>
            </a:r>
          </a:p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/ action decoder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B1B5A-FEE1-4425-983C-FDA90F3A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2247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executable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 chunk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14543-D181-455A-8E50-654C8D4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6712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84967-B1B3-4BA1-81A0-3D159AE5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67125"/>
            <a:ext cx="8763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BE7E9-422A-4555-8FA3-61BA0DFA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800CB-1ED7-40F8-BB21-82B3290A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0545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failure mode: imagined future may be visually plausible but not robot-executable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8F06C-BB7A-43E9-A1E0-EEF63F93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4753E-DD97-41D0-BEC8-39E0994E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30CB5-0E91-46A7-B6C1-35720741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90261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750F54-6BFB-4BC8-82C0-FAB268A6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E0DD3-03D6-4072-9FDB-153DA750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41AD6-9CB1-4870-8623-B9625938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FAST-WAM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8305A-0F15-4DB7-8565-E85A4BF2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33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Fast-WAM 把未来预测从推理步骤改造成表征监督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DA8D3-C68E-4A40-B9EA-1DB765A4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rPr>
              <a:t>关键不是“不要 world model”，而是：训练时仍用 future prediction 迫使 latent 学世界动态；测试时不再显式生成未来视频。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CF05A-A33F-4E03-9717-C7AAD272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Training: observation history → latent zₜ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CAB72-C958-4516-B9C7-EA03BD6F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C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Auxiliary objective: predict future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4F0D8-2A4B-4297-BFC9-511C043C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Inference: observation history → latent zₜ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43659-BE00-42EF-B541-98A7161C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 head: zₜ → action chunk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0CA3C-595E-437F-9546-6B0EA678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14825"/>
            <a:ext cx="1333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BCD88-AB91-451B-968F-F493FFF3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53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54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F5548"/>
                </a:solidFill>
                <a:latin typeface="Segoe UI"/>
                <a:ea typeface="Segoe UI"/>
                <a:cs typeface="Segoe UI"/>
              </a:rPr>
              <a:t>future prediction supervision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C81A0-E74B-4F59-B95D-AAB0C76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53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no test-time video denoising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40C5C-1652-48FE-99C8-CDE5E170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B72DA-C82A-4444-B57D-344F995B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D01B38-BB5B-46B8-8C57-F71D4727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2359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8224A-543C-418A-9050-46FC82BA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8EF2D-2DCA-4C6A-B3A6-A6242183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5A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CBA0E-2D24-453C-BA1C-2C067537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5A37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A65A37"/>
                </a:solidFill>
                <a:latin typeface="Segoe UI"/>
                <a:ea typeface="Segoe UI"/>
                <a:cs typeface="Segoe UI"/>
              </a:rPr>
              <a:t>DIFFUSION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B8CE7-91D0-4BB9-8A2D-7D3EB919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715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扩散在 WAM 中是分布学习机制，不只是视频渲染器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DF3FE-07DA-46EB-9D10-5B23268C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6762"/>
                </a:solidFill>
                <a:latin typeface="Microsoft YaHei"/>
                <a:ea typeface="Microsoft YaHei"/>
                <a:cs typeface="Microsoft YaHei"/>
              </a:rPr>
              <a:t>训练时，模型从被加噪的联合样本中预测噪声。它学习的是条件分布的形状，尤其适合多峰动作和多种可能未来。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52853-293D-4E23-896F-55691F36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clean sample</a:t>
            </a:r>
          </a:p>
          <a:p xmlns:a="http://schemas.openxmlformats.org/drawingml/2006/main">
            <a:r>
              <a:rPr sz="1350" b="1">
                <a:solidFill>
                  <a:srgbClr val="1F5548"/>
                </a:solidFill>
                <a:latin typeface="Microsoft YaHei"/>
                <a:ea typeface="Microsoft YaHei"/>
                <a:cs typeface="Microsoft YaHei"/>
              </a:rPr>
              <a:t>future +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B2F6E-D140-4B52-B78C-190A458B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add noise</a:t>
            </a:r>
          </a:p>
          <a:p xmlns:a="http://schemas.openxmlformats.org/drawingml/2006/main">
            <a:r>
              <a:rPr sz="1350" b="1">
                <a:solidFill>
                  <a:srgbClr val="A65A37"/>
                </a:solidFill>
                <a:latin typeface="Microsoft YaHei"/>
                <a:ea typeface="Microsoft YaHei"/>
                <a:cs typeface="Microsoft YaHei"/>
              </a:rPr>
              <a:t>xτ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F4F7E-CCCF-434C-8621-03D86606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predict noise</a:t>
            </a:r>
          </a:p>
          <a:p xmlns:a="http://schemas.openxmlformats.org/drawingml/2006/main">
            <a:r>
              <a:rPr sz="1350" b="1">
                <a:solidFill>
                  <a:srgbClr val="253D6E"/>
                </a:solidFill>
                <a:latin typeface="Microsoft YaHei"/>
                <a:ea typeface="Microsoft YaHei"/>
                <a:cs typeface="Microsoft YaHei"/>
              </a:rPr>
              <a:t>εθ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FA6F7-FBB7-4EEF-BEC5-1AF140E1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7660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9525">
            <a:solidFill>
              <a:srgbClr val="17201B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denoise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9048E-8B72-4C1D-B462-3C541EF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19500"/>
            <a:ext cx="742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55168-F76B-4453-8A13-AA40A2AF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19500"/>
            <a:ext cx="742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11920-29ED-48C3-AA34-12CFF588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19500"/>
            <a:ext cx="742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55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75810-1829-4234-973C-E2C18790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对 Fast-WAM 来说，扩散/视频预测的主要价值是训练出更懂动力学的 latent，而不是每次控制都生成完整未来。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A4180-4BCB-479A-831A-A0058D2B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1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FB1D0-25DB-4C34-B66D-AC6454D1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762"/>
                </a:solidFill>
                <a:latin typeface="Segoe UI"/>
                <a:ea typeface="Segoe UI"/>
                <a:cs typeface="Segoe UI"/>
              </a:defRPr>
            </a:pPr>
            <a:r>
              <a:rPr sz="750" b="0">
                <a:solidFill>
                  <a:srgbClr val="626762"/>
                </a:solidFill>
                <a:latin typeface="Segoe UI"/>
                <a:ea typeface="Segoe UI"/>
                <a:cs typeface="Segoe UI"/>
              </a:rPr>
              <a:t>World Action Models 学术汇报 · synthesized from local WAM notes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8F62D-5A72-49A6-9D1F-5FBAA9EE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548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1F5548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23362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3D7E05-9650-4ABB-A39F-6E03440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C5D38-4E68-4649-80AD-DEF72538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0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ADF92-71EC-4705-82F6-D08C3129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B08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D9B08C"/>
                </a:solidFill>
                <a:latin typeface="Segoe UI"/>
                <a:ea typeface="Segoe UI"/>
                <a:cs typeface="Segoe UI"/>
              </a:rPr>
              <a:t>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F7A3F-AC49-4971-8E88-A008F90F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核心问题：世界模型的价值在显式想象，还是在 latent supervision？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9B676-6E86-4609-AE06-218D7622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2F"/>
          </a:solidFill>
          <a:ln xmlns:a="http://schemas.openxmlformats.org/drawingml/2006/main" w="9525">
            <a:solidFill>
              <a:srgbClr val="45675C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If explicit imagination matters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generate candidate futures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rank by value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execute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1113D-E22C-4710-B5C4-404C29D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72F"/>
          </a:solidFill>
          <a:ln xmlns:a="http://schemas.openxmlformats.org/drawingml/2006/main" w="9525">
            <a:solidFill>
              <a:srgbClr val="45675C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If representation matters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train with video prediction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use zₜ directly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reduce latency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BE568-CB75-4B56-BC60-A51BC5B2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3143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2F2A"/>
          </a:solidFill>
          <a:ln xmlns:a="http://schemas.openxmlformats.org/drawingml/2006/main" w="9525">
            <a:solidFill>
              <a:srgbClr val="A65A37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Research agenda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compare both factors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measure latency / success</a:t>
            </a:r>
          </a:p>
          <a:p xmlns:a="http://schemas.openxmlformats.org/drawingml/2006/main"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 inspect rollout errors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3D8CA-E912-4B50-80AF-CBC004F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B08C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9B08C"/>
                </a:solidFill>
                <a:latin typeface="Segoe UI"/>
                <a:ea typeface="Segoe UI"/>
                <a:cs typeface="Segoe UI"/>
              </a:rPr>
              <a:t>Takeaway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ECA2A-61D6-4C74-A621-630FD3A4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14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WAM 的学术价值不在于“会生成视频”，而在于它把世界动态、动作生成与规划价值放到同一个可检验的问题框架中。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05EFF-D931-4604-9533-DBE16B06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B08C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D9B08C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7736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2026-06-26T09:25:22.0330000Z</dcterms:created>
  <dcterms:modified xsi:type="dcterms:W3CDTF">2026-06-26T09:25:22.0330000Z</dcterms:modified>
</coreProperties>
</file>